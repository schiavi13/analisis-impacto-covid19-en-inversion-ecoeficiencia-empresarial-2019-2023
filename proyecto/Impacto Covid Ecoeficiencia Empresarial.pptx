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embeddedFontLst>
    <p:embeddedFont>
      <p:font typeface="Urbanist SemiBold"/>
      <p:regular r:id="rId29"/>
      <p:bold r:id="rId30"/>
      <p:italic r:id="rId31"/>
      <p:boldItalic r:id="rId32"/>
    </p:embeddedFont>
    <p:embeddedFont>
      <p:font typeface="Urbanist"/>
      <p:regular r:id="rId33"/>
      <p:bold r:id="rId34"/>
      <p:italic r:id="rId35"/>
      <p:boldItalic r:id="rId36"/>
    </p:embeddedFont>
    <p:embeddedFont>
      <p:font typeface="Orbitron"/>
      <p:regular r:id="rId37"/>
      <p:bold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C56C2B-9664-42A2-9598-6BAB7DC4B9EB}">
  <a:tblStyle styleId="{C8C56C2B-9664-42A2-9598-6BAB7DC4B9E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SemiBold-italic.fntdata"/><Relationship Id="rId30" Type="http://schemas.openxmlformats.org/officeDocument/2006/relationships/font" Target="fonts/UrbanistSemiBold-bold.fntdata"/><Relationship Id="rId11" Type="http://schemas.openxmlformats.org/officeDocument/2006/relationships/slide" Target="slides/slide5.xml"/><Relationship Id="rId33" Type="http://schemas.openxmlformats.org/officeDocument/2006/relationships/font" Target="fonts/Urbanist-regular.fntdata"/><Relationship Id="rId10" Type="http://schemas.openxmlformats.org/officeDocument/2006/relationships/slide" Target="slides/slide4.xml"/><Relationship Id="rId32" Type="http://schemas.openxmlformats.org/officeDocument/2006/relationships/font" Target="fonts/UrbanistSemiBold-boldItalic.fntdata"/><Relationship Id="rId13" Type="http://schemas.openxmlformats.org/officeDocument/2006/relationships/slide" Target="slides/slide7.xml"/><Relationship Id="rId35" Type="http://schemas.openxmlformats.org/officeDocument/2006/relationships/font" Target="fonts/Urbanist-italic.fntdata"/><Relationship Id="rId12" Type="http://schemas.openxmlformats.org/officeDocument/2006/relationships/slide" Target="slides/slide6.xml"/><Relationship Id="rId34" Type="http://schemas.openxmlformats.org/officeDocument/2006/relationships/font" Target="fonts/Urbanist-bold.fntdata"/><Relationship Id="rId15" Type="http://schemas.openxmlformats.org/officeDocument/2006/relationships/slide" Target="slides/slide9.xml"/><Relationship Id="rId37" Type="http://schemas.openxmlformats.org/officeDocument/2006/relationships/font" Target="fonts/Orbitron-regular.fntdata"/><Relationship Id="rId14" Type="http://schemas.openxmlformats.org/officeDocument/2006/relationships/slide" Target="slides/slide8.xml"/><Relationship Id="rId36" Type="http://schemas.openxmlformats.org/officeDocument/2006/relationships/font" Target="fonts/Urbanist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Orbitron-bold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7002ec69e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7002ec69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97002ec69e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97002ec69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97002ec69e_0_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97002ec69e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97002ec69e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97002ec69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97002ec69e_2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97002ec69e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7002ec69e_2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7002ec69e_2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97002ec69e_2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97002ec69e_2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97002ec69e_2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97002ec69e_2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97002ec69e_2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97002ec69e_2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25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2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9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image" Target="../media/image28.png"/><Relationship Id="rId8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3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2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image" Target="../media/image9.png"/><Relationship Id="rId6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7.png"/><Relationship Id="rId4" Type="http://schemas.openxmlformats.org/officeDocument/2006/relationships/image" Target="../media/image21.png"/><Relationship Id="rId5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/>
          <p:cNvPicPr preferRelativeResize="0"/>
          <p:nvPr/>
        </p:nvPicPr>
        <p:blipFill>
          <a:blip r:embed="rId4">
            <a:alphaModFix amt="30000"/>
          </a:blip>
          <a:stretch>
            <a:fillRect/>
          </a:stretch>
        </p:blipFill>
        <p:spPr>
          <a:xfrm>
            <a:off x="0" y="-288975"/>
            <a:ext cx="12192000" cy="8618450"/>
          </a:xfrm>
          <a:prstGeom prst="rect">
            <a:avLst/>
          </a:prstGeom>
          <a:noFill/>
          <a:ln>
            <a:noFill/>
          </a:ln>
          <a:effectLst>
            <a:reflection blurRad="0" dir="5400000" dist="38100" endA="0" endPos="30000" fadeDir="5400012" kx="0" rotWithShape="0" algn="bl" stPos="0" sy="-100000" ky="0"/>
          </a:effectLst>
        </p:spPr>
      </p:pic>
      <p:sp>
        <p:nvSpPr>
          <p:cNvPr id="86" name="Google Shape;86;p13"/>
          <p:cNvSpPr txBox="1"/>
          <p:nvPr/>
        </p:nvSpPr>
        <p:spPr>
          <a:xfrm>
            <a:off x="1691250" y="1760200"/>
            <a:ext cx="9088200" cy="3016800"/>
          </a:xfrm>
          <a:prstGeom prst="rect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7500000" dist="19050">
              <a:srgbClr val="000000">
                <a:alpha val="58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320675" rtl="0" algn="ctr">
              <a:lnSpc>
                <a:spcPct val="150000"/>
              </a:lnSpc>
              <a:spcBef>
                <a:spcPts val="0"/>
              </a:spcBef>
              <a:spcAft>
                <a:spcPts val="260"/>
              </a:spcAft>
              <a:buNone/>
            </a:pPr>
            <a:r>
              <a:rPr b="1" lang="en-US" sz="4600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Impacto COVID-19 en </a:t>
            </a:r>
            <a:r>
              <a:rPr b="1" lang="en-US" sz="4600">
                <a:solidFill>
                  <a:schemeClr val="lt1"/>
                </a:solidFill>
                <a:latin typeface="Orbitron"/>
                <a:ea typeface="Orbitron"/>
                <a:cs typeface="Orbitron"/>
                <a:sym typeface="Orbitron"/>
              </a:rPr>
              <a:t>Inversión en Ecoeficiencia</a:t>
            </a:r>
            <a:r>
              <a:rPr b="1" lang="en-US" sz="4600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 Empresarial 2019-2023 </a:t>
            </a:r>
            <a:endParaRPr b="1" sz="4600">
              <a:solidFill>
                <a:srgbClr val="00FF88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81025" y="771525"/>
            <a:ext cx="5190648" cy="50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¿QUÉ PASÓ CON LA </a:t>
            </a:r>
            <a:r>
              <a:rPr b="1" i="0" lang="en-US" sz="4500" u="none" cap="none" strike="noStrike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TRANSICIÓN ENERGÉTICA</a:t>
            </a:r>
            <a:r>
              <a:rPr b="1" i="0" lang="en-US" sz="45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 CUANDO LLEGÓ EL COVID-19?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81025" y="5791200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 análisis profundo de los datos empresariales en Colombia (2019-2023).</a:t>
            </a:r>
            <a:endParaRPr/>
          </a:p>
        </p:txBody>
      </p:sp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4484250" y="6492000"/>
            <a:ext cx="14670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334025" y="0"/>
            <a:ext cx="11013300" cy="17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NUESTRO </a:t>
            </a:r>
            <a:r>
              <a:rPr b="1" lang="en-US" sz="4500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EQUIPO </a:t>
            </a:r>
            <a:r>
              <a:rPr b="1" lang="en-US" sz="450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 DE ANALISTAS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1672950" y="2564825"/>
            <a:ext cx="8846100" cy="269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6350" lvl="0" marL="6350" marR="135890" rtl="0" algn="ctr">
              <a:lnSpc>
                <a:spcPct val="107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Melissa González López </a:t>
            </a:r>
            <a:endParaRPr b="1" sz="2900">
              <a:solidFill>
                <a:schemeClr val="lt1"/>
              </a:solidFill>
            </a:endParaRPr>
          </a:p>
          <a:p>
            <a:pPr indent="-6350" lvl="0" marL="6350" marR="133985" rtl="0" algn="ctr">
              <a:lnSpc>
                <a:spcPct val="107916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Luis Fernando Martínez </a:t>
            </a:r>
            <a:endParaRPr b="1" sz="2900">
              <a:solidFill>
                <a:schemeClr val="lt1"/>
              </a:solidFill>
            </a:endParaRPr>
          </a:p>
          <a:p>
            <a:pPr indent="0" lvl="0" marL="2102485" marR="2190750" rtl="0" algn="ctr">
              <a:lnSpc>
                <a:spcPct val="107916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Erika Osorio Foronda</a:t>
            </a:r>
            <a:endParaRPr b="1" sz="2900">
              <a:solidFill>
                <a:schemeClr val="lt1"/>
              </a:solidFill>
            </a:endParaRPr>
          </a:p>
          <a:p>
            <a:pPr indent="0" lvl="0" marL="2102485" marR="2190750" rtl="0" algn="ctr">
              <a:lnSpc>
                <a:spcPct val="107916"/>
              </a:lnSpc>
              <a:spcBef>
                <a:spcPts val="26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Wilder Salas Mena</a:t>
            </a:r>
            <a:endParaRPr b="1" sz="2900">
              <a:solidFill>
                <a:schemeClr val="lt1"/>
              </a:solidFill>
            </a:endParaRPr>
          </a:p>
          <a:p>
            <a:pPr indent="-6350" lvl="0" marL="6350" marR="133985" rtl="0" algn="ctr">
              <a:lnSpc>
                <a:spcPct val="107916"/>
              </a:lnSpc>
              <a:spcBef>
                <a:spcPts val="260"/>
              </a:spcBef>
              <a:spcAft>
                <a:spcPts val="260"/>
              </a:spcAft>
              <a:buNone/>
            </a:pPr>
            <a:r>
              <a:rPr b="1" lang="en-US" sz="2900">
                <a:solidFill>
                  <a:schemeClr val="lt1"/>
                </a:solidFill>
              </a:rPr>
              <a:t>Bernardo Saldarriaga Avendaño</a:t>
            </a:r>
            <a:endParaRPr b="1" sz="3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6"/>
          <p:cNvSpPr txBox="1"/>
          <p:nvPr/>
        </p:nvSpPr>
        <p:spPr>
          <a:xfrm>
            <a:off x="581025" y="4108995"/>
            <a:ext cx="110299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8BDF8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DANE · MySQL · Python · Streamlit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580875" y="5422845"/>
            <a:ext cx="11030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</p:txBody>
      </p:sp>
      <p:sp>
        <p:nvSpPr>
          <p:cNvPr id="110" name="Google Shape;110;p16"/>
          <p:cNvSpPr txBox="1"/>
          <p:nvPr/>
        </p:nvSpPr>
        <p:spPr>
          <a:xfrm>
            <a:off x="581025" y="2537370"/>
            <a:ext cx="3422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30.866</a:t>
            </a:r>
            <a:endParaRPr/>
          </a:p>
        </p:txBody>
      </p:sp>
      <p:sp>
        <p:nvSpPr>
          <p:cNvPr id="111" name="Google Shape;111;p16"/>
          <p:cNvSpPr txBox="1"/>
          <p:nvPr/>
        </p:nvSpPr>
        <p:spPr>
          <a:xfrm>
            <a:off x="581025" y="3261270"/>
            <a:ext cx="3422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Registros analizados</a:t>
            </a:r>
            <a:endParaRPr/>
          </a:p>
        </p:txBody>
      </p:sp>
      <p:sp>
        <p:nvSpPr>
          <p:cNvPr id="112" name="Google Shape;112;p16"/>
          <p:cNvSpPr txBox="1"/>
          <p:nvPr/>
        </p:nvSpPr>
        <p:spPr>
          <a:xfrm>
            <a:off x="4384625" y="2537370"/>
            <a:ext cx="34226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20</a:t>
            </a:r>
            <a:endParaRPr/>
          </a:p>
        </p:txBody>
      </p:sp>
      <p:sp>
        <p:nvSpPr>
          <p:cNvPr id="113" name="Google Shape;113;p16"/>
          <p:cNvSpPr txBox="1"/>
          <p:nvPr/>
        </p:nvSpPr>
        <p:spPr>
          <a:xfrm>
            <a:off x="4384625" y="3261270"/>
            <a:ext cx="3422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Sectores económicos</a:t>
            </a:r>
            <a:endParaRPr/>
          </a:p>
        </p:txBody>
      </p:sp>
      <p:sp>
        <p:nvSpPr>
          <p:cNvPr id="114" name="Google Shape;114;p16"/>
          <p:cNvSpPr txBox="1"/>
          <p:nvPr/>
        </p:nvSpPr>
        <p:spPr>
          <a:xfrm>
            <a:off x="8188225" y="2537370"/>
            <a:ext cx="3422749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2019-23</a:t>
            </a:r>
            <a:endParaRPr/>
          </a:p>
        </p:txBody>
      </p:sp>
      <p:sp>
        <p:nvSpPr>
          <p:cNvPr id="115" name="Google Shape;115;p16"/>
          <p:cNvSpPr txBox="1"/>
          <p:nvPr/>
        </p:nvSpPr>
        <p:spPr>
          <a:xfrm>
            <a:off x="8188225" y="3261270"/>
            <a:ext cx="342274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Periodo de estudio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771525" y="581025"/>
            <a:ext cx="113814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EL ADN DE LAS EMPRESAS COLOMBIANAS</a:t>
            </a:r>
            <a:endParaRPr/>
          </a:p>
        </p:txBody>
      </p:sp>
      <p:sp>
        <p:nvSpPr>
          <p:cNvPr id="117" name="Google Shape;117;p16"/>
          <p:cNvSpPr/>
          <p:nvPr/>
        </p:nvSpPr>
        <p:spPr>
          <a:xfrm>
            <a:off x="581025" y="581025"/>
            <a:ext cx="47625" cy="4609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3" name="Google Shape;12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48073" y="932775"/>
            <a:ext cx="9095851" cy="5925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1043700" y="0"/>
            <a:ext cx="1010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Diagrama </a:t>
            </a:r>
            <a:r>
              <a:rPr b="1" lang="en-US" sz="4500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Entidad</a:t>
            </a:r>
            <a:r>
              <a:rPr b="1" lang="en-US" sz="450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-relación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0" name="Google Shape;1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8"/>
          <p:cNvSpPr txBox="1"/>
          <p:nvPr/>
        </p:nvSpPr>
        <p:spPr>
          <a:xfrm>
            <a:off x="1043700" y="0"/>
            <a:ext cx="101046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Diagrama </a:t>
            </a:r>
            <a:r>
              <a:rPr b="1" lang="en-US" sz="4500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relacional</a:t>
            </a:r>
            <a:endParaRPr>
              <a:solidFill>
                <a:srgbClr val="00FF88"/>
              </a:solidFill>
            </a:endParaRPr>
          </a:p>
        </p:txBody>
      </p:sp>
      <p:pic>
        <p:nvPicPr>
          <p:cNvPr id="132" name="Google Shape;13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77981" y="713043"/>
            <a:ext cx="7653995" cy="610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9"/>
          <p:cNvSpPr txBox="1"/>
          <p:nvPr/>
        </p:nvSpPr>
        <p:spPr>
          <a:xfrm>
            <a:off x="0" y="0"/>
            <a:ext cx="30000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Evolución del gasto ambiental 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b="1" lang="en-US" sz="450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GASPROGESAMB</a:t>
            </a:r>
            <a:r>
              <a:rPr b="1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/>
          </a:p>
        </p:txBody>
      </p:sp>
      <p:pic>
        <p:nvPicPr>
          <p:cNvPr descr="image.png" id="138" name="Google Shape;13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9"/>
          <p:cNvSpPr txBox="1"/>
          <p:nvPr/>
        </p:nvSpPr>
        <p:spPr>
          <a:xfrm>
            <a:off x="911975" y="37500"/>
            <a:ext cx="10341600" cy="15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275"/>
              </a:spcAft>
              <a:buNone/>
            </a:pPr>
            <a:r>
              <a:rPr b="1" lang="en-US" sz="440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Evolución del gasto ambiental </a:t>
            </a:r>
            <a:r>
              <a:rPr b="1" lang="en-US" sz="4400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(GASPROGESAMB) </a:t>
            </a:r>
            <a:endParaRPr sz="1300">
              <a:solidFill>
                <a:srgbClr val="00FF88"/>
              </a:solidFill>
            </a:endParaRPr>
          </a:p>
        </p:txBody>
      </p:sp>
      <p:pic>
        <p:nvPicPr>
          <p:cNvPr id="140" name="Google Shape;14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0138" y="1630200"/>
            <a:ext cx="8025275" cy="5077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5" name="Google Shape;14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20"/>
          <p:cNvSpPr txBox="1"/>
          <p:nvPr/>
        </p:nvSpPr>
        <p:spPr>
          <a:xfrm>
            <a:off x="305276" y="2276475"/>
            <a:ext cx="11581447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+127.2%</a:t>
            </a:r>
            <a:endParaRPr/>
          </a:p>
        </p:txBody>
      </p:sp>
      <p:sp>
        <p:nvSpPr>
          <p:cNvPr id="147" name="Google Shape;147;p20"/>
          <p:cNvSpPr txBox="1"/>
          <p:nvPr/>
        </p:nvSpPr>
        <p:spPr>
          <a:xfrm>
            <a:off x="305276" y="3228975"/>
            <a:ext cx="11581447" cy="476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CRECIMIENTO DEL GASTO AMBIENTAL</a:t>
            </a:r>
            <a:endParaRPr/>
          </a:p>
        </p:txBody>
      </p:sp>
      <p:sp>
        <p:nvSpPr>
          <p:cNvPr id="148" name="Google Shape;148;p20"/>
          <p:cNvSpPr txBox="1"/>
          <p:nvPr/>
        </p:nvSpPr>
        <p:spPr>
          <a:xfrm>
            <a:off x="581025" y="4086225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Aumento masivo registrado entre 2019 y 2023 en el tejido empresarial colombiano.</a:t>
            </a:r>
            <a:endParaRPr/>
          </a:p>
        </p:txBody>
      </p:sp>
      <p:sp>
        <p:nvSpPr>
          <p:cNvPr id="149" name="Google Shape;149;p20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91225" y="2602110"/>
            <a:ext cx="5619750" cy="2495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/>
          <p:nvPr/>
        </p:nvSpPr>
        <p:spPr>
          <a:xfrm>
            <a:off x="581025" y="2492573"/>
            <a:ext cx="50805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EF4444"/>
                </a:solidFill>
                <a:latin typeface="Orbitron"/>
                <a:ea typeface="Orbitron"/>
                <a:cs typeface="Orbitron"/>
                <a:sym typeface="Orbitron"/>
              </a:rPr>
              <a:t>-6,2%</a:t>
            </a:r>
            <a:endParaRPr/>
          </a:p>
        </p:txBody>
      </p:sp>
      <p:sp>
        <p:nvSpPr>
          <p:cNvPr id="157" name="Google Shape;157;p21"/>
          <p:cNvSpPr txBox="1"/>
          <p:nvPr/>
        </p:nvSpPr>
        <p:spPr>
          <a:xfrm>
            <a:off x="581025" y="3683198"/>
            <a:ext cx="50805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CAÍDA EN 202</a:t>
            </a:r>
            <a:r>
              <a:rPr b="1" lang="en-US" sz="1404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1</a:t>
            </a:r>
            <a:endParaRPr/>
          </a:p>
        </p:txBody>
      </p:sp>
      <p:sp>
        <p:nvSpPr>
          <p:cNvPr id="158" name="Google Shape;158;p21"/>
          <p:cNvSpPr txBox="1"/>
          <p:nvPr/>
        </p:nvSpPr>
        <p:spPr>
          <a:xfrm>
            <a:off x="581025" y="4102298"/>
            <a:ext cx="4838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La inversión en energías limpias se desplomó durante la pandemia y aún no muestra señales de recuperación estructural.</a:t>
            </a:r>
            <a:endParaRPr/>
          </a:p>
        </p:txBody>
      </p:sp>
      <p:sp>
        <p:nvSpPr>
          <p:cNvPr id="159" name="Google Shape;159;p21"/>
          <p:cNvSpPr txBox="1"/>
          <p:nvPr/>
        </p:nvSpPr>
        <p:spPr>
          <a:xfrm>
            <a:off x="6381750" y="2992635"/>
            <a:ext cx="50805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31.9</a:t>
            </a:r>
            <a:r>
              <a:rPr b="1" i="0" lang="en-US" sz="45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%</a:t>
            </a:r>
            <a:endParaRPr/>
          </a:p>
        </p:txBody>
      </p:sp>
      <p:sp>
        <p:nvSpPr>
          <p:cNvPr id="160" name="Google Shape;160;p21"/>
          <p:cNvSpPr txBox="1"/>
          <p:nvPr/>
        </p:nvSpPr>
        <p:spPr>
          <a:xfrm>
            <a:off x="6381750" y="3907035"/>
            <a:ext cx="4838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Del total de la inversión para 2023. Una cifra marginal frente al reto climático.</a:t>
            </a:r>
            <a:endParaRPr/>
          </a:p>
        </p:txBody>
      </p:sp>
      <p:sp>
        <p:nvSpPr>
          <p:cNvPr id="161" name="Google Shape;161;p21"/>
          <p:cNvSpPr txBox="1"/>
          <p:nvPr/>
        </p:nvSpPr>
        <p:spPr>
          <a:xfrm>
            <a:off x="771525" y="581025"/>
            <a:ext cx="113814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EL COLAPSO DE LA INVERSIÓN LIMPIA</a:t>
            </a:r>
            <a:endParaRPr/>
          </a:p>
        </p:txBody>
      </p:sp>
      <p:sp>
        <p:nvSpPr>
          <p:cNvPr id="162" name="Google Shape;162;p21"/>
          <p:cNvSpPr/>
          <p:nvPr/>
        </p:nvSpPr>
        <p:spPr>
          <a:xfrm>
            <a:off x="581025" y="581025"/>
            <a:ext cx="47625" cy="4609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9763" y="1319725"/>
            <a:ext cx="9354126" cy="5246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2"/>
          <p:cNvSpPr txBox="1"/>
          <p:nvPr/>
        </p:nvSpPr>
        <p:spPr>
          <a:xfrm>
            <a:off x="1084613" y="97675"/>
            <a:ext cx="982440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07916"/>
              </a:lnSpc>
              <a:spcBef>
                <a:spcPts val="0"/>
              </a:spcBef>
              <a:spcAft>
                <a:spcPts val="275"/>
              </a:spcAft>
              <a:buNone/>
            </a:pPr>
            <a:r>
              <a:rPr b="1" lang="en-US" sz="3000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Participación empresarial</a:t>
            </a:r>
            <a:r>
              <a:rPr b="1" lang="en-US" sz="300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 en la inversión ambiental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22945"/>
            <a:ext cx="11029950" cy="4854029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3"/>
          <p:cNvSpPr txBox="1"/>
          <p:nvPr/>
        </p:nvSpPr>
        <p:spPr>
          <a:xfrm>
            <a:off x="771525" y="581025"/>
            <a:ext cx="113814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PERO LOS PROMEDIOS MIENTEN</a:t>
            </a:r>
            <a:endParaRPr/>
          </a:p>
        </p:txBody>
      </p:sp>
      <p:sp>
        <p:nvSpPr>
          <p:cNvPr id="177" name="Google Shape;177;p23"/>
          <p:cNvSpPr/>
          <p:nvPr/>
        </p:nvSpPr>
        <p:spPr>
          <a:xfrm>
            <a:off x="581025" y="581025"/>
            <a:ext cx="47625" cy="4609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3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3" name="Google Shape;18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4" name="Google Shape;184;p24"/>
          <p:cNvGraphicFramePr/>
          <p:nvPr/>
        </p:nvGraphicFramePr>
        <p:xfrm>
          <a:off x="581025" y="227067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{C8C56C2B-9664-42A2-9598-6BAB7DC4B9EB}</a:tableStyleId>
              </a:tblPr>
              <a:tblGrid>
                <a:gridCol w="7299125"/>
                <a:gridCol w="3730825"/>
              </a:tblGrid>
              <a:tr h="7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Indicador (Cierre 2023)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8FAFC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Estado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66666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Ingresos totales (310.9 billones COP)</a:t>
                      </a:r>
                      <a:endParaRPr b="1" sz="1600">
                        <a:solidFill>
                          <a:srgbClr val="666666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65DA3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↑ RECUPERADO</a:t>
                      </a:r>
                      <a:endParaRPr b="1">
                        <a:solidFill>
                          <a:srgbClr val="65DA3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66666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Empleos generados (2.37M personas)</a:t>
                      </a:r>
                      <a:endParaRPr b="1" sz="1600">
                        <a:solidFill>
                          <a:srgbClr val="666666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65DA31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↑ RECUPERADO</a:t>
                      </a:r>
                      <a:endParaRPr b="1">
                        <a:solidFill>
                          <a:srgbClr val="65DA3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66666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Participación Energías Limpias (2.08%)</a:t>
                      </a:r>
                      <a:endParaRPr b="1" sz="1600">
                        <a:solidFill>
                          <a:srgbClr val="666666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EF444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↓ ESTANCADO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2000" u="none" cap="none" strike="noStrike">
                          <a:solidFill>
                            <a:srgbClr val="666666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Empresas sin inversión (69.2%)</a:t>
                      </a:r>
                      <a:endParaRPr b="1" sz="1600">
                        <a:solidFill>
                          <a:srgbClr val="666666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EF444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↓ BRECHA ALTA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5" name="Google Shape;185;p24"/>
          <p:cNvSpPr/>
          <p:nvPr/>
        </p:nvSpPr>
        <p:spPr>
          <a:xfrm>
            <a:off x="581025" y="3018383"/>
            <a:ext cx="729912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4"/>
          <p:cNvSpPr/>
          <p:nvPr/>
        </p:nvSpPr>
        <p:spPr>
          <a:xfrm>
            <a:off x="7880151" y="3018383"/>
            <a:ext cx="373082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4"/>
          <p:cNvSpPr/>
          <p:nvPr/>
        </p:nvSpPr>
        <p:spPr>
          <a:xfrm>
            <a:off x="581025" y="3780383"/>
            <a:ext cx="729912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4"/>
          <p:cNvSpPr/>
          <p:nvPr/>
        </p:nvSpPr>
        <p:spPr>
          <a:xfrm>
            <a:off x="7880151" y="3780383"/>
            <a:ext cx="373082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4"/>
          <p:cNvSpPr/>
          <p:nvPr/>
        </p:nvSpPr>
        <p:spPr>
          <a:xfrm>
            <a:off x="581025" y="4542383"/>
            <a:ext cx="729912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4"/>
          <p:cNvSpPr/>
          <p:nvPr/>
        </p:nvSpPr>
        <p:spPr>
          <a:xfrm>
            <a:off x="7880151" y="4542383"/>
            <a:ext cx="373082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4"/>
          <p:cNvSpPr/>
          <p:nvPr/>
        </p:nvSpPr>
        <p:spPr>
          <a:xfrm>
            <a:off x="581025" y="5304383"/>
            <a:ext cx="729912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4"/>
          <p:cNvSpPr/>
          <p:nvPr/>
        </p:nvSpPr>
        <p:spPr>
          <a:xfrm>
            <a:off x="7880151" y="5304383"/>
            <a:ext cx="373082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24"/>
          <p:cNvSpPr/>
          <p:nvPr/>
        </p:nvSpPr>
        <p:spPr>
          <a:xfrm>
            <a:off x="581025" y="6066383"/>
            <a:ext cx="7299126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4"/>
          <p:cNvSpPr/>
          <p:nvPr/>
        </p:nvSpPr>
        <p:spPr>
          <a:xfrm>
            <a:off x="7880151" y="6066383"/>
            <a:ext cx="3730823" cy="9525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4"/>
          <p:cNvSpPr txBox="1"/>
          <p:nvPr/>
        </p:nvSpPr>
        <p:spPr>
          <a:xfrm>
            <a:off x="771525" y="581025"/>
            <a:ext cx="11381422" cy="9218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LOS INGRESOS REBOTARON. LAS ENERGÍAS, NO.</a:t>
            </a:r>
            <a:endParaRPr/>
          </a:p>
        </p:txBody>
      </p:sp>
      <p:sp>
        <p:nvSpPr>
          <p:cNvPr id="196" name="Google Shape;196;p24"/>
          <p:cNvSpPr/>
          <p:nvPr/>
        </p:nvSpPr>
        <p:spPr>
          <a:xfrm>
            <a:off x="581025" y="581025"/>
            <a:ext cx="47625" cy="921841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4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2" name="Google Shape;202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3" name="Google Shape;203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2025" y="962025"/>
            <a:ext cx="10267950" cy="4933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5"/>
          <p:cNvSpPr txBox="1"/>
          <p:nvPr/>
        </p:nvSpPr>
        <p:spPr>
          <a:xfrm>
            <a:off x="1115377" y="2095500"/>
            <a:ext cx="9961245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¿QUIÉN CONSUME MÁS ENERGÍA PERO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750" u="none" cap="none" strike="noStrike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INVIERTE MENOS</a:t>
            </a:r>
            <a:r>
              <a:rPr b="1" i="0" lang="en-US" sz="37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 EN FUENTES LIMPIAS?</a:t>
            </a:r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16438" y="1276750"/>
            <a:ext cx="9959124" cy="55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6"/>
          <p:cNvSpPr txBox="1"/>
          <p:nvPr/>
        </p:nvSpPr>
        <p:spPr>
          <a:xfrm>
            <a:off x="1810050" y="152400"/>
            <a:ext cx="92655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7916"/>
              </a:lnSpc>
              <a:spcBef>
                <a:spcPts val="0"/>
              </a:spcBef>
              <a:spcAft>
                <a:spcPts val="275"/>
              </a:spcAft>
              <a:buNone/>
            </a:pPr>
            <a:r>
              <a:rPr b="1" lang="en-US" sz="375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Impacto </a:t>
            </a:r>
            <a:r>
              <a:rPr b="1" lang="en-US" sz="3750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COVID-19</a:t>
            </a:r>
            <a:r>
              <a:rPr b="1" lang="en-US" sz="3750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 por sector </a:t>
            </a:r>
            <a:endParaRPr b="1" sz="3750">
              <a:solidFill>
                <a:srgbClr val="F8FAFC"/>
              </a:solidFill>
              <a:latin typeface="Orbitron"/>
              <a:ea typeface="Orbitron"/>
              <a:cs typeface="Orbitron"/>
              <a:sym typeface="Orbitro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6" name="Google Shape;216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16360"/>
            <a:ext cx="354955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316360"/>
            <a:ext cx="3549699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316360"/>
            <a:ext cx="3549550" cy="3067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0" name="Google Shape;220;p2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9175" y="270688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1019175" y="3278385"/>
            <a:ext cx="28569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GIGANTES HAMBRIENTOS</a:t>
            </a:r>
            <a:endParaRPr/>
          </a:p>
        </p:txBody>
      </p:sp>
      <p:sp>
        <p:nvSpPr>
          <p:cNvPr id="222" name="Google Shape;222;p27"/>
          <p:cNvSpPr txBox="1"/>
          <p:nvPr/>
        </p:nvSpPr>
        <p:spPr>
          <a:xfrm>
            <a:off x="1019175" y="3697485"/>
            <a:ext cx="2720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Sectores: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Teleco + Salud</a:t>
            </a:r>
            <a:endParaRPr/>
          </a:p>
        </p:txBody>
      </p:sp>
      <p:sp>
        <p:nvSpPr>
          <p:cNvPr id="223" name="Google Shape;223;p27"/>
          <p:cNvSpPr txBox="1"/>
          <p:nvPr/>
        </p:nvSpPr>
        <p:spPr>
          <a:xfrm>
            <a:off x="1019175" y="4192785"/>
            <a:ext cx="2720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Alto consumo, baja sustitución energética.</a:t>
            </a:r>
            <a:endParaRPr/>
          </a:p>
        </p:txBody>
      </p:sp>
      <p:pic>
        <p:nvPicPr>
          <p:cNvPr descr="image.png" id="224" name="Google Shape;224;p2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59225" y="270688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7"/>
          <p:cNvSpPr txBox="1"/>
          <p:nvPr/>
        </p:nvSpPr>
        <p:spPr>
          <a:xfrm>
            <a:off x="4759225" y="3278385"/>
            <a:ext cx="2857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ESPEJISMO DIGITAL</a:t>
            </a:r>
            <a:endParaRPr/>
          </a:p>
        </p:txBody>
      </p:sp>
      <p:sp>
        <p:nvSpPr>
          <p:cNvPr id="226" name="Google Shape;226;p27"/>
          <p:cNvSpPr txBox="1"/>
          <p:nvPr/>
        </p:nvSpPr>
        <p:spPr>
          <a:xfrm>
            <a:off x="4759225" y="3697485"/>
            <a:ext cx="2721024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Sectores: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Informática + RRHH</a:t>
            </a:r>
            <a:endParaRPr/>
          </a:p>
        </p:txBody>
      </p:sp>
      <p:sp>
        <p:nvSpPr>
          <p:cNvPr id="227" name="Google Shape;227;p27"/>
          <p:cNvSpPr txBox="1"/>
          <p:nvPr/>
        </p:nvSpPr>
        <p:spPr>
          <a:xfrm>
            <a:off x="4759225" y="4192785"/>
            <a:ext cx="2721024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Baja huella física, pero nula estrategia ambiental.</a:t>
            </a:r>
            <a:endParaRPr/>
          </a:p>
        </p:txBody>
      </p:sp>
      <p:pic>
        <p:nvPicPr>
          <p:cNvPr descr="image.png" id="228" name="Google Shape;228;p2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99425" y="2706885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7"/>
          <p:cNvSpPr txBox="1"/>
          <p:nvPr/>
        </p:nvSpPr>
        <p:spPr>
          <a:xfrm>
            <a:off x="8499425" y="3278385"/>
            <a:ext cx="2856919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EL PROBLEMA HUMANO</a:t>
            </a:r>
            <a:endParaRPr/>
          </a:p>
        </p:txBody>
      </p:sp>
      <p:sp>
        <p:nvSpPr>
          <p:cNvPr id="230" name="Google Shape;230;p27"/>
          <p:cNvSpPr txBox="1"/>
          <p:nvPr/>
        </p:nvSpPr>
        <p:spPr>
          <a:xfrm>
            <a:off x="8499425" y="3697485"/>
            <a:ext cx="27208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Foco: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PERSAMB casi cero</a:t>
            </a:r>
            <a:endParaRPr/>
          </a:p>
        </p:txBody>
      </p:sp>
      <p:sp>
        <p:nvSpPr>
          <p:cNvPr id="231" name="Google Shape;231;p27"/>
          <p:cNvSpPr txBox="1"/>
          <p:nvPr/>
        </p:nvSpPr>
        <p:spPr>
          <a:xfrm>
            <a:off x="8499425" y="4192785"/>
            <a:ext cx="27208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Falta de personal técnico dedicado al área ambiental.</a:t>
            </a:r>
            <a:endParaRPr/>
          </a:p>
        </p:txBody>
      </p:sp>
      <p:sp>
        <p:nvSpPr>
          <p:cNvPr id="232" name="Google Shape;232;p27"/>
          <p:cNvSpPr txBox="1"/>
          <p:nvPr/>
        </p:nvSpPr>
        <p:spPr>
          <a:xfrm>
            <a:off x="771525" y="581025"/>
            <a:ext cx="113814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TRES PERFILES. TRES PROBLEMAS.</a:t>
            </a:r>
            <a:endParaRPr/>
          </a:p>
        </p:txBody>
      </p:sp>
      <p:sp>
        <p:nvSpPr>
          <p:cNvPr id="233" name="Google Shape;233;p27"/>
          <p:cNvSpPr/>
          <p:nvPr/>
        </p:nvSpPr>
        <p:spPr>
          <a:xfrm>
            <a:off x="581025" y="581025"/>
            <a:ext cx="47625" cy="4609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9000" y="656613"/>
            <a:ext cx="9894000" cy="5544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7500" y="3559522"/>
            <a:ext cx="4943475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9"/>
          <p:cNvSpPr txBox="1"/>
          <p:nvPr/>
        </p:nvSpPr>
        <p:spPr>
          <a:xfrm>
            <a:off x="6667500" y="1949797"/>
            <a:ext cx="5190648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ECOANALYTICS PRO</a:t>
            </a:r>
            <a:endParaRPr/>
          </a:p>
        </p:txBody>
      </p:sp>
      <p:sp>
        <p:nvSpPr>
          <p:cNvPr id="248" name="Google Shape;248;p29"/>
          <p:cNvSpPr txBox="1"/>
          <p:nvPr/>
        </p:nvSpPr>
        <p:spPr>
          <a:xfrm>
            <a:off x="6667500" y="2568922"/>
            <a:ext cx="49434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Inteligencia ambiental impulsada por datos del DANE 2019-2023.</a:t>
            </a:r>
            <a:endParaRPr/>
          </a:p>
        </p:txBody>
      </p:sp>
      <p:sp>
        <p:nvSpPr>
          <p:cNvPr id="249" name="Google Shape;249;p29"/>
          <p:cNvSpPr txBox="1"/>
          <p:nvPr/>
        </p:nvSpPr>
        <p:spPr>
          <a:xfrm>
            <a:off x="6667500" y="4569172"/>
            <a:ext cx="494347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Desarrollada íntegramente en </a:t>
            </a:r>
            <a:r>
              <a:rPr b="1" i="0" lang="en-US" sz="120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Python + Streamlit</a:t>
            </a: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250" name="Google Shape;250;p29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5" name="Google Shape;255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11598"/>
            <a:ext cx="3549550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1075" y="2311598"/>
            <a:ext cx="3549699" cy="3076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8" name="Google Shape;258;p3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061275" y="2311598"/>
            <a:ext cx="3549550" cy="3076575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0"/>
          <p:cNvSpPr txBox="1"/>
          <p:nvPr/>
        </p:nvSpPr>
        <p:spPr>
          <a:xfrm>
            <a:off x="971550" y="2702123"/>
            <a:ext cx="27685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01</a:t>
            </a:r>
            <a:endParaRPr/>
          </a:p>
        </p:txBody>
      </p:sp>
      <p:sp>
        <p:nvSpPr>
          <p:cNvPr id="260" name="Google Shape;260;p30"/>
          <p:cNvSpPr txBox="1"/>
          <p:nvPr/>
        </p:nvSpPr>
        <p:spPr>
          <a:xfrm>
            <a:off x="971550" y="3473648"/>
            <a:ext cx="2906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SUBSIDIO FISCAL</a:t>
            </a:r>
            <a:endParaRPr/>
          </a:p>
        </p:txBody>
      </p:sp>
      <p:sp>
        <p:nvSpPr>
          <p:cNvPr id="261" name="Google Shape;261;p30"/>
          <p:cNvSpPr txBox="1"/>
          <p:nvPr/>
        </p:nvSpPr>
        <p:spPr>
          <a:xfrm>
            <a:off x="971550" y="3892748"/>
            <a:ext cx="2768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Directo para Teleco y Salud para acelerar recambio tecnológico.</a:t>
            </a:r>
            <a:endParaRPr/>
          </a:p>
        </p:txBody>
      </p:sp>
      <p:sp>
        <p:nvSpPr>
          <p:cNvPr id="262" name="Google Shape;262;p30"/>
          <p:cNvSpPr txBox="1"/>
          <p:nvPr/>
        </p:nvSpPr>
        <p:spPr>
          <a:xfrm>
            <a:off x="4711600" y="2702123"/>
            <a:ext cx="2768649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02</a:t>
            </a:r>
            <a:endParaRPr/>
          </a:p>
        </p:txBody>
      </p:sp>
      <p:sp>
        <p:nvSpPr>
          <p:cNvPr id="263" name="Google Shape;263;p30"/>
          <p:cNvSpPr txBox="1"/>
          <p:nvPr/>
        </p:nvSpPr>
        <p:spPr>
          <a:xfrm>
            <a:off x="4711600" y="3473648"/>
            <a:ext cx="290708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MEDICIÓN OBLIGATORIA</a:t>
            </a:r>
            <a:endParaRPr/>
          </a:p>
        </p:txBody>
      </p:sp>
      <p:sp>
        <p:nvSpPr>
          <p:cNvPr id="264" name="Google Shape;264;p30"/>
          <p:cNvSpPr txBox="1"/>
          <p:nvPr/>
        </p:nvSpPr>
        <p:spPr>
          <a:xfrm>
            <a:off x="4711600" y="3892748"/>
            <a:ext cx="2768649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Auditoría de huella para sectores de servicios digitales.</a:t>
            </a:r>
            <a:endParaRPr/>
          </a:p>
        </p:txBody>
      </p:sp>
      <p:sp>
        <p:nvSpPr>
          <p:cNvPr id="265" name="Google Shape;265;p30"/>
          <p:cNvSpPr txBox="1"/>
          <p:nvPr/>
        </p:nvSpPr>
        <p:spPr>
          <a:xfrm>
            <a:off x="8451800" y="2702123"/>
            <a:ext cx="27685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75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03</a:t>
            </a:r>
            <a:endParaRPr/>
          </a:p>
        </p:txBody>
      </p:sp>
      <p:sp>
        <p:nvSpPr>
          <p:cNvPr id="266" name="Google Shape;266;p30"/>
          <p:cNvSpPr txBox="1"/>
          <p:nvPr/>
        </p:nvSpPr>
        <p:spPr>
          <a:xfrm>
            <a:off x="8451800" y="3473648"/>
            <a:ext cx="29069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CARGO FORMAL</a:t>
            </a:r>
            <a:endParaRPr/>
          </a:p>
        </p:txBody>
      </p:sp>
      <p:sp>
        <p:nvSpPr>
          <p:cNvPr id="267" name="Google Shape;267;p30"/>
          <p:cNvSpPr txBox="1"/>
          <p:nvPr/>
        </p:nvSpPr>
        <p:spPr>
          <a:xfrm>
            <a:off x="8451800" y="3892748"/>
            <a:ext cx="27685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Incentivo para la creación de roles ambientales en nóminas corporativas.</a:t>
            </a:r>
            <a:endParaRPr/>
          </a:p>
        </p:txBody>
      </p:sp>
      <p:sp>
        <p:nvSpPr>
          <p:cNvPr id="268" name="Google Shape;268;p30"/>
          <p:cNvSpPr txBox="1"/>
          <p:nvPr/>
        </p:nvSpPr>
        <p:spPr>
          <a:xfrm>
            <a:off x="771525" y="581025"/>
            <a:ext cx="1138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INCENTIVOS </a:t>
            </a:r>
            <a:endParaRPr/>
          </a:p>
        </p:txBody>
      </p:sp>
      <p:sp>
        <p:nvSpPr>
          <p:cNvPr id="269" name="Google Shape;269;p30"/>
          <p:cNvSpPr/>
          <p:nvPr/>
        </p:nvSpPr>
        <p:spPr>
          <a:xfrm>
            <a:off x="581025" y="581025"/>
            <a:ext cx="47625" cy="4609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0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/>
        </p:nvSpPr>
        <p:spPr>
          <a:xfrm>
            <a:off x="839025" y="383025"/>
            <a:ext cx="50157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RESULTADOS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839025" y="1283250"/>
            <a:ext cx="5866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14935" rtl="0" algn="l">
              <a:spcBef>
                <a:spcPts val="0"/>
              </a:spcBef>
              <a:spcAft>
                <a:spcPts val="1395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 líder ambiental - Salud humana</a:t>
            </a:r>
            <a:endParaRPr sz="2600">
              <a:solidFill>
                <a:schemeClr val="lt1"/>
              </a:solidFill>
            </a:endParaRPr>
          </a:p>
        </p:txBody>
      </p:sp>
      <p:sp>
        <p:nvSpPr>
          <p:cNvPr id="277" name="Google Shape;277;p31"/>
          <p:cNvSpPr txBox="1"/>
          <p:nvPr/>
        </p:nvSpPr>
        <p:spPr>
          <a:xfrm>
            <a:off x="821972" y="2200022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14935" rtl="0" algn="l">
              <a:lnSpc>
                <a:spcPct val="100000"/>
              </a:lnSpc>
              <a:spcBef>
                <a:spcPts val="0"/>
              </a:spcBef>
              <a:spcAft>
                <a:spcPts val="1395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Energía limpias</a:t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839025" y="3189726"/>
            <a:ext cx="71304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14935" rtl="0" algn="l">
              <a:lnSpc>
                <a:spcPct val="100000"/>
              </a:lnSpc>
              <a:spcBef>
                <a:spcPts val="0"/>
              </a:spcBef>
              <a:spcAft>
                <a:spcPts val="1395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Sectores prioritarios para la transición energética</a:t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839025" y="4216647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114935" rtl="0" algn="l">
              <a:lnSpc>
                <a:spcPct val="100000"/>
              </a:lnSpc>
              <a:spcBef>
                <a:spcPts val="0"/>
              </a:spcBef>
              <a:spcAft>
                <a:spcPts val="1395"/>
              </a:spcAft>
              <a:buNone/>
            </a:pPr>
            <a:r>
              <a:rPr b="1" lang="en-US" sz="24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Personal ambiental </a:t>
            </a:r>
            <a:endParaRPr b="1"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81025"/>
            <a:ext cx="11029950" cy="569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2"/>
          <p:cNvSpPr txBox="1"/>
          <p:nvPr/>
        </p:nvSpPr>
        <p:spPr>
          <a:xfrm>
            <a:off x="1343025" y="1379190"/>
            <a:ext cx="9981247" cy="25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125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"LA VERDADERA TRANSICIÓN SE LOGRA INVIRTIENDO DONDE </a:t>
            </a:r>
            <a:r>
              <a:rPr b="1" i="0" lang="en-US" sz="4125" u="none" cap="none" strike="noStrike">
                <a:solidFill>
                  <a:srgbClr val="00FF88"/>
                </a:solidFill>
                <a:latin typeface="Orbitron"/>
                <a:ea typeface="Orbitron"/>
                <a:cs typeface="Orbitron"/>
                <a:sym typeface="Orbitron"/>
              </a:rPr>
              <a:t>LOS DATOS NOS EXIGEN ACTUAR</a:t>
            </a:r>
            <a:r>
              <a:rPr b="1" i="0" lang="en-US" sz="4125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."</a:t>
            </a:r>
            <a:endParaRPr/>
          </a:p>
        </p:txBody>
      </p:sp>
      <p:sp>
        <p:nvSpPr>
          <p:cNvPr id="287" name="Google Shape;287;p32"/>
          <p:cNvSpPr txBox="1"/>
          <p:nvPr/>
        </p:nvSpPr>
        <p:spPr>
          <a:xfrm>
            <a:off x="1343025" y="5052125"/>
            <a:ext cx="4311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Melissa González · Luis Martínez · Erika Osorio</a:t>
            </a:r>
            <a:endParaRPr sz="1700"/>
          </a:p>
        </p:txBody>
      </p:sp>
      <p:sp>
        <p:nvSpPr>
          <p:cNvPr id="288" name="Google Shape;288;p32"/>
          <p:cNvSpPr txBox="1"/>
          <p:nvPr/>
        </p:nvSpPr>
        <p:spPr>
          <a:xfrm>
            <a:off x="1343025" y="5265390"/>
            <a:ext cx="2648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Wilder Salas · Bernardo Saldarriaga</a:t>
            </a:r>
            <a:endParaRPr sz="1700"/>
          </a:p>
        </p:txBody>
      </p:sp>
      <p:sp>
        <p:nvSpPr>
          <p:cNvPr id="289" name="Google Shape;289;p32"/>
          <p:cNvSpPr txBox="1"/>
          <p:nvPr/>
        </p:nvSpPr>
        <p:spPr>
          <a:xfrm>
            <a:off x="8067675" y="4884390"/>
            <a:ext cx="27813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FF88"/>
                </a:solidFill>
                <a:latin typeface="Urbanist"/>
                <a:ea typeface="Urbanist"/>
                <a:cs typeface="Urbanist"/>
                <a:sym typeface="Urbanist"/>
              </a:rPr>
              <a:t>ecoeficiencia.streamlit.app</a:t>
            </a:r>
            <a:endParaRPr/>
          </a:p>
        </p:txBody>
      </p:sp>
      <p:sp>
        <p:nvSpPr>
          <p:cNvPr id="290" name="Google Shape;290;p32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5" name="Google Shape;29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3"/>
          <p:cNvSpPr txBox="1"/>
          <p:nvPr/>
        </p:nvSpPr>
        <p:spPr>
          <a:xfrm>
            <a:off x="305276" y="2609850"/>
            <a:ext cx="11581447" cy="9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MUCHAS GRACIAS</a:t>
            </a:r>
            <a:endParaRPr/>
          </a:p>
        </p:txBody>
      </p:sp>
      <p:sp>
        <p:nvSpPr>
          <p:cNvPr id="297" name="Google Shape;297;p33"/>
          <p:cNvSpPr txBox="1"/>
          <p:nvPr/>
        </p:nvSpPr>
        <p:spPr>
          <a:xfrm>
            <a:off x="581025" y="3752850"/>
            <a:ext cx="110301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El futuro se construye hoy.</a:t>
            </a:r>
            <a:endParaRPr/>
          </a:p>
        </p:txBody>
      </p:sp>
      <p:sp>
        <p:nvSpPr>
          <p:cNvPr id="298" name="Google Shape;298;p33"/>
          <p:cNvSpPr txBox="1"/>
          <p:nvPr/>
        </p:nvSpPr>
        <p:spPr>
          <a:xfrm>
            <a:off x="581025" y="6400800"/>
            <a:ext cx="1466850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F8FAFC"/>
                </a:solidFill>
                <a:latin typeface="Orbitron"/>
                <a:ea typeface="Orbitron"/>
                <a:cs typeface="Orbitron"/>
                <a:sym typeface="Orbitron"/>
              </a:rPr>
              <a:t>TALENTO TECH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20617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/>
          <p:nvPr/>
        </p:nvSpPr>
        <p:spPr>
          <a:xfrm>
            <a:off x="581025" y="1437291"/>
            <a:ext cx="110301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4"/>
          <p:cNvSpPr/>
          <p:nvPr/>
        </p:nvSpPr>
        <p:spPr>
          <a:xfrm>
            <a:off x="581025" y="2222062"/>
            <a:ext cx="11030100" cy="7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4"/>
          <p:cNvSpPr/>
          <p:nvPr/>
        </p:nvSpPr>
        <p:spPr>
          <a:xfrm>
            <a:off x="581025" y="2212537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4"/>
          <p:cNvSpPr/>
          <p:nvPr/>
        </p:nvSpPr>
        <p:spPr>
          <a:xfrm>
            <a:off x="581025" y="2212537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4"/>
          <p:cNvSpPr/>
          <p:nvPr/>
        </p:nvSpPr>
        <p:spPr>
          <a:xfrm>
            <a:off x="581025" y="2997308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4"/>
          <p:cNvSpPr/>
          <p:nvPr/>
        </p:nvSpPr>
        <p:spPr>
          <a:xfrm>
            <a:off x="581025" y="2997308"/>
            <a:ext cx="11030100" cy="9600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09" name="Google Shape;30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1025" y="158671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4"/>
          <p:cNvSpPr txBox="1"/>
          <p:nvPr/>
        </p:nvSpPr>
        <p:spPr>
          <a:xfrm>
            <a:off x="1676400" y="1580166"/>
            <a:ext cx="993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https://www.niemanlab.org/images/los-angeles-coronavirus-cc.jpg</a:t>
            </a:r>
            <a:endParaRPr/>
          </a:p>
        </p:txBody>
      </p:sp>
      <p:sp>
        <p:nvSpPr>
          <p:cNvPr id="311" name="Google Shape;311;p34"/>
          <p:cNvSpPr txBox="1"/>
          <p:nvPr/>
        </p:nvSpPr>
        <p:spPr>
          <a:xfrm>
            <a:off x="1676400" y="1825882"/>
            <a:ext cx="993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www.niemanlab.org</a:t>
            </a:r>
            <a:endParaRPr/>
          </a:p>
        </p:txBody>
      </p:sp>
      <p:pic>
        <p:nvPicPr>
          <p:cNvPr descr="image.png" id="312" name="Google Shape;31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7148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4"/>
          <p:cNvSpPr txBox="1"/>
          <p:nvPr/>
        </p:nvSpPr>
        <p:spPr>
          <a:xfrm>
            <a:off x="1676400" y="2364922"/>
            <a:ext cx="9934500" cy="56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https://images.stockcake.com/public/f/5/d/f5d86aec-8c66-4d5f-b642-332b87e9af3a_large/analytics-dashboard-display-stockcake.jpg</a:t>
            </a:r>
            <a:endParaRPr/>
          </a:p>
        </p:txBody>
      </p:sp>
      <p:sp>
        <p:nvSpPr>
          <p:cNvPr id="314" name="Google Shape;314;p34"/>
          <p:cNvSpPr txBox="1"/>
          <p:nvPr/>
        </p:nvSpPr>
        <p:spPr>
          <a:xfrm>
            <a:off x="1676400" y="2555934"/>
            <a:ext cx="993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stockcake.com</a:t>
            </a:r>
            <a:endParaRPr/>
          </a:p>
        </p:txBody>
      </p:sp>
      <p:pic>
        <p:nvPicPr>
          <p:cNvPr descr="image.png" id="315" name="Google Shape;315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3156256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4"/>
          <p:cNvSpPr txBox="1"/>
          <p:nvPr/>
        </p:nvSpPr>
        <p:spPr>
          <a:xfrm>
            <a:off x="1676400" y="3149708"/>
            <a:ext cx="993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https://www.mirabaud.com/fileadmin/_processed_/9/5/csm_unsplash_PiPdMILYbg0_a6d3e3c45b.jpg</a:t>
            </a:r>
            <a:endParaRPr/>
          </a:p>
        </p:txBody>
      </p:sp>
      <p:sp>
        <p:nvSpPr>
          <p:cNvPr id="317" name="Google Shape;317;p34"/>
          <p:cNvSpPr txBox="1"/>
          <p:nvPr/>
        </p:nvSpPr>
        <p:spPr>
          <a:xfrm>
            <a:off x="1676400" y="3395423"/>
            <a:ext cx="9934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www.mirabaud.com</a:t>
            </a:r>
            <a:endParaRPr/>
          </a:p>
        </p:txBody>
      </p:sp>
      <p:sp>
        <p:nvSpPr>
          <p:cNvPr id="318" name="Google Shape;318;p34"/>
          <p:cNvSpPr txBox="1"/>
          <p:nvPr/>
        </p:nvSpPr>
        <p:spPr>
          <a:xfrm>
            <a:off x="771525" y="581025"/>
            <a:ext cx="11381422" cy="460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IMAGE SOURCES</a:t>
            </a:r>
            <a:endParaRPr/>
          </a:p>
        </p:txBody>
      </p:sp>
      <p:sp>
        <p:nvSpPr>
          <p:cNvPr id="319" name="Google Shape;319;p34"/>
          <p:cNvSpPr/>
          <p:nvPr/>
        </p:nvSpPr>
        <p:spPr>
          <a:xfrm>
            <a:off x="581025" y="581025"/>
            <a:ext cx="47625" cy="4609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4"/>
          <p:cNvSpPr txBox="1"/>
          <p:nvPr/>
        </p:nvSpPr>
        <p:spPr>
          <a:xfrm>
            <a:off x="668575" y="4438725"/>
            <a:ext cx="113814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00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DATA </a:t>
            </a:r>
            <a:r>
              <a:rPr b="1" i="0" lang="en-US" sz="3300" u="none" cap="none" strike="noStrike">
                <a:solidFill>
                  <a:srgbClr val="38BDF8"/>
                </a:solidFill>
                <a:latin typeface="Orbitron"/>
                <a:ea typeface="Orbitron"/>
                <a:cs typeface="Orbitron"/>
                <a:sym typeface="Orbitron"/>
              </a:rPr>
              <a:t>SOURCES</a:t>
            </a:r>
            <a:endParaRPr/>
          </a:p>
        </p:txBody>
      </p:sp>
      <p:sp>
        <p:nvSpPr>
          <p:cNvPr id="321" name="Google Shape;321;p34"/>
          <p:cNvSpPr/>
          <p:nvPr/>
        </p:nvSpPr>
        <p:spPr>
          <a:xfrm>
            <a:off x="478075" y="4438725"/>
            <a:ext cx="47700" cy="4608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4"/>
          <p:cNvSpPr txBox="1"/>
          <p:nvPr/>
        </p:nvSpPr>
        <p:spPr>
          <a:xfrm>
            <a:off x="525775" y="5143500"/>
            <a:ext cx="7861200" cy="1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175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Fuente: Departamento Administrativo Nacional de Estadística — www.dane.gov.co </a:t>
            </a:r>
            <a:endParaRPr sz="17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1350">
              <a:solidFill>
                <a:srgbClr val="CBD5E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